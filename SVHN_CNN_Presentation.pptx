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1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2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4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4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87020" y="3575050"/>
            <a:ext cx="9144000" cy="157734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" name="Shape 1"/>
          <p:cNvSpPr/>
          <p:nvPr/>
        </p:nvSpPr>
        <p:spPr>
          <a:xfrm>
            <a:off x="0" y="3538728"/>
            <a:ext cx="9144000" cy="45720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8229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SVHN Image Classification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457200" y="1298448"/>
            <a:ext cx="822960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Using Convolutional Neural Networks (CNN)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926080" y="1901952"/>
            <a:ext cx="3291840" cy="27432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7" name="Text 5"/>
          <p:cNvSpPr/>
          <p:nvPr/>
        </p:nvSpPr>
        <p:spPr>
          <a:xfrm>
            <a:off x="457200" y="1993392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Topic 2 Group Assignment · Deep Learning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474720" y="2514600"/>
            <a:ext cx="2194560" cy="868680"/>
          </a:xfrm>
          <a:prstGeom prst="roundRect">
            <a:avLst>
              <a:gd name="adj" fmla="val 12632"/>
            </a:avLst>
          </a:prstGeom>
          <a:solidFill>
            <a:srgbClr val="4A90D9"/>
          </a:solidFill>
        </p:spPr>
      </p:sp>
      <p:sp>
        <p:nvSpPr>
          <p:cNvPr id="9" name="Text 7"/>
          <p:cNvSpPr/>
          <p:nvPr/>
        </p:nvSpPr>
        <p:spPr>
          <a:xfrm>
            <a:off x="3474720" y="2532888"/>
            <a:ext cx="219456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91.88%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474720" y="2990088"/>
            <a:ext cx="219456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8F2F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Test Accuracy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374904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Yunnan University · 2026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4160520"/>
            <a:ext cx="82296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ROY SUDIPTA (20243120070)  ·  ULLAH SAMI (20243120005)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Presentation Agenda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7" name="Text 5"/>
          <p:cNvSpPr/>
          <p:nvPr/>
        </p:nvSpPr>
        <p:spPr>
          <a:xfrm>
            <a:off x="393192" y="960120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005840" y="960120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709160" y="960120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09160" y="960120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1" name="Text 9"/>
          <p:cNvSpPr/>
          <p:nvPr/>
        </p:nvSpPr>
        <p:spPr>
          <a:xfrm>
            <a:off x="4873752" y="960120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486400" y="960120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Overview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28600" y="1837944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1837944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5" name="Text 13"/>
          <p:cNvSpPr/>
          <p:nvPr/>
        </p:nvSpPr>
        <p:spPr>
          <a:xfrm>
            <a:off x="393192" y="1837944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03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005840" y="1837944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CNN?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1837944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09160" y="1837944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9" name="Text 17"/>
          <p:cNvSpPr/>
          <p:nvPr/>
        </p:nvSpPr>
        <p:spPr>
          <a:xfrm>
            <a:off x="4873752" y="1837944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04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486400" y="1837944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 Architecture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28600" y="2715768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2715768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3" name="Text 21"/>
          <p:cNvSpPr/>
          <p:nvPr/>
        </p:nvSpPr>
        <p:spPr>
          <a:xfrm>
            <a:off x="393192" y="2715768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05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1005840" y="2715768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Preprocessing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709160" y="2715768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09160" y="2715768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7" name="Text 25"/>
          <p:cNvSpPr/>
          <p:nvPr/>
        </p:nvSpPr>
        <p:spPr>
          <a:xfrm>
            <a:off x="4873752" y="2715768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06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486400" y="2715768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Setup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228600" y="3593592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28600" y="3593592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1" name="Text 29"/>
          <p:cNvSpPr/>
          <p:nvPr/>
        </p:nvSpPr>
        <p:spPr>
          <a:xfrm>
            <a:off x="393192" y="3593592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07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1005840" y="3593592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Code Highlights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4709160" y="3593592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709160" y="3593592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5" name="Text 33"/>
          <p:cNvSpPr/>
          <p:nvPr/>
        </p:nvSpPr>
        <p:spPr>
          <a:xfrm>
            <a:off x="4873752" y="3593592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08</a:t>
            </a:r>
            <a:endParaRPr lang="en-US" sz="2000" dirty="0"/>
          </a:p>
        </p:txBody>
      </p:sp>
      <p:sp>
        <p:nvSpPr>
          <p:cNvPr id="36" name="Text 34"/>
          <p:cNvSpPr/>
          <p:nvPr/>
        </p:nvSpPr>
        <p:spPr>
          <a:xfrm>
            <a:off x="5486400" y="3593592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 &amp; Analysis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228600" y="4471416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228600" y="4471416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9" name="Text 37"/>
          <p:cNvSpPr/>
          <p:nvPr/>
        </p:nvSpPr>
        <p:spPr>
          <a:xfrm>
            <a:off x="393192" y="4471416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09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1005840" y="4471416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Challenges &amp; Solutions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4709160" y="4471416"/>
            <a:ext cx="425196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4709160" y="4471416"/>
            <a:ext cx="64008" cy="749808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43" name="Text 41"/>
          <p:cNvSpPr/>
          <p:nvPr/>
        </p:nvSpPr>
        <p:spPr>
          <a:xfrm>
            <a:off x="4873752" y="4471416"/>
            <a:ext cx="54864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2000" dirty="0"/>
          </a:p>
        </p:txBody>
      </p:sp>
      <p:sp>
        <p:nvSpPr>
          <p:cNvPr id="44" name="Text 42"/>
          <p:cNvSpPr/>
          <p:nvPr/>
        </p:nvSpPr>
        <p:spPr>
          <a:xfrm>
            <a:off x="5486400" y="4471416"/>
            <a:ext cx="3383280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 &amp; Future Work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Problem Statement: SVHN Digit Recognition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5029200" cy="39319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5029200" cy="38404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7" name="Text 5"/>
          <p:cNvSpPr/>
          <p:nvPr/>
        </p:nvSpPr>
        <p:spPr>
          <a:xfrm>
            <a:off x="320040" y="960120"/>
            <a:ext cx="48463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What is SVHN?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4846320" cy="3429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Street View House Numbers — real-world images from Google Street View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32×32 pixel colour (RGB) images of house number digits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classes: digits 0 through 9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Published by Stanford University (Netzer et al., 2011)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Far more challenging than MNIST: natural noise, clutter, colour variation, variable lighting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0" y="951865"/>
            <a:ext cx="3429000" cy="1828800"/>
          </a:xfrm>
          <a:prstGeom prst="rect">
            <a:avLst/>
          </a:prstGeom>
          <a:solidFill>
            <a:schemeClr val="accent5">
              <a:lumMod val="75000"/>
            </a:schemeClr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1005840"/>
            <a:ext cx="324612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harder than MNIST?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577840" y="1325880"/>
            <a:ext cx="3246120" cy="138988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RGB colour — 3 channels vs 1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Real background clutter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Variable lighting &amp; blur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Multiple digits may be visible</a:t>
            </a:r>
            <a:endParaRPr lang="en-US" sz="110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DDE6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Natural class imbalance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0" y="2944368"/>
            <a:ext cx="3429000" cy="194767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5486400" y="2944368"/>
            <a:ext cx="3429000" cy="34747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4" name="Text 12"/>
          <p:cNvSpPr/>
          <p:nvPr/>
        </p:nvSpPr>
        <p:spPr>
          <a:xfrm>
            <a:off x="5577840" y="2944368"/>
            <a:ext cx="3246120" cy="34747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Project Goal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577840" y="3337560"/>
            <a:ext cx="3246120" cy="14630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Build a CNN from scratch to classify digits 0–9 with &gt; 90% accuracy. No pre-trained weights or transfer learning — all feature extraction learned from the data.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Dataset Overview: SVHN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74320" y="9601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8F2FC"/>
          </a:solidFill>
        </p:spPr>
      </p:sp>
      <p:sp>
        <p:nvSpPr>
          <p:cNvPr id="6" name="Text 4"/>
          <p:cNvSpPr/>
          <p:nvPr/>
        </p:nvSpPr>
        <p:spPr>
          <a:xfrm>
            <a:off x="274320" y="1033272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73,257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63040"/>
            <a:ext cx="192024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Images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23160" y="9601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8F2FC"/>
          </a:solidFill>
        </p:spPr>
      </p:sp>
      <p:sp>
        <p:nvSpPr>
          <p:cNvPr id="9" name="Text 7"/>
          <p:cNvSpPr/>
          <p:nvPr/>
        </p:nvSpPr>
        <p:spPr>
          <a:xfrm>
            <a:off x="2423160" y="1033272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26,032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23160" y="1463040"/>
            <a:ext cx="192024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Images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9601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8F2FC"/>
          </a:solidFill>
        </p:spPr>
      </p:sp>
      <p:sp>
        <p:nvSpPr>
          <p:cNvPr id="12" name="Text 10"/>
          <p:cNvSpPr/>
          <p:nvPr/>
        </p:nvSpPr>
        <p:spPr>
          <a:xfrm>
            <a:off x="4572000" y="1033272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72000" y="1463040"/>
            <a:ext cx="192024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Classes (0–9)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20840" y="960120"/>
            <a:ext cx="1920240" cy="914400"/>
          </a:xfrm>
          <a:prstGeom prst="roundRect">
            <a:avLst>
              <a:gd name="adj" fmla="val 8000"/>
            </a:avLst>
          </a:prstGeom>
          <a:solidFill>
            <a:srgbClr val="E8F2FC"/>
          </a:solidFill>
        </p:spPr>
      </p:sp>
      <p:sp>
        <p:nvSpPr>
          <p:cNvPr id="15" name="Text 13"/>
          <p:cNvSpPr/>
          <p:nvPr/>
        </p:nvSpPr>
        <p:spPr>
          <a:xfrm>
            <a:off x="6720840" y="1033272"/>
            <a:ext cx="192024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32×32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20840" y="1463040"/>
            <a:ext cx="1920240" cy="3657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Image Size (RGB)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2011680"/>
            <a:ext cx="8686800" cy="283464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011680"/>
            <a:ext cx="8686800" cy="38404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011680"/>
            <a:ext cx="85039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Dataset Properties</a:t>
            </a:r>
            <a:endParaRPr lang="en-US" sz="14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228600" y="2450592"/>
          <a:ext cx="8686800" cy="2414016"/>
        </p:xfrm>
        <a:graphic>
          <a:graphicData uri="http://schemas.openxmlformats.org/drawingml/2006/table">
            <a:tbl>
              <a:tblPr/>
              <a:tblGrid>
                <a:gridCol w="2011680"/>
                <a:gridCol w="6675120"/>
              </a:tblGrid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Property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Detail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Format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MATLAB .mat file, loaded via torchvision API directly — no manual parsing needed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Label mapping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Raw dataset assigns label 10 to digit '0' — mapped to 0 in preprocessing code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Class distribution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Approximately balanced across digits 0–9; digit '1' slightly over-represented (natural frequency in street addresses)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Extra set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531,131 additional images available but not used — we use only the standard train/test split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Preprocessing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0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Normalise to [−1,1]; random crop and flip for training; ToTensor + normalise only for test</a:t>
                      </a:r>
                      <a:endParaRPr lang="en-US" sz="120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Convolutional Neural Networks?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2834640" cy="338328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2834640" cy="38404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  <p:txBody>
          <a:bodyPr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320040" y="960120"/>
            <a:ext cx="265176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Traditional ML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265176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Manual feature engineering required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Does not exploit spatial structure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Fails on pixel-level variations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Cannot share weights spatially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Poor scalability to higher resolution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00400" y="960120"/>
            <a:ext cx="2834640" cy="338328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0" y="960120"/>
            <a:ext cx="2834640" cy="384048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11" name="Text 9"/>
          <p:cNvSpPr/>
          <p:nvPr/>
        </p:nvSpPr>
        <p:spPr>
          <a:xfrm>
            <a:off x="3291840" y="960120"/>
            <a:ext cx="265176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Fully Connected NN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91840" y="1389888"/>
            <a:ext cx="265176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Treats pixels as independent features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spatial awareness whatsoever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Huge parameter count for images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Poor generalisation to new images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Computationally prohibitive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172200" y="960120"/>
            <a:ext cx="2834640" cy="3383280"/>
          </a:xfrm>
          <a:prstGeom prst="rect">
            <a:avLst/>
          </a:prstGeom>
          <a:solidFill>
            <a:srgbClr val="1A3A5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172200" y="960120"/>
            <a:ext cx="2834640" cy="384048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15" name="Text 13"/>
          <p:cNvSpPr/>
          <p:nvPr/>
        </p:nvSpPr>
        <p:spPr>
          <a:xfrm>
            <a:off x="6263640" y="960120"/>
            <a:ext cx="265176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 ✓ (Our Approach)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63640" y="1389888"/>
            <a:ext cx="2651760" cy="283464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Automatic feature extraction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Exploits 2D spatial structure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Weight sharing = fewer parameters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Translation invariance via pooling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Hierarchical feature learning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228600" y="4416552"/>
            <a:ext cx="8686800" cy="54864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8" name="Text 16"/>
          <p:cNvSpPr/>
          <p:nvPr/>
        </p:nvSpPr>
        <p:spPr>
          <a:xfrm>
            <a:off x="365760" y="4434840"/>
            <a:ext cx="8412480" cy="5029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 Key Advantage: One filter slides across the ENTIRE image — learning one edge detector works everywhere! (weight sharing)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 Architecture — SVHN_CNN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137160" y="960120"/>
            <a:ext cx="1051560" cy="1828800"/>
          </a:xfrm>
          <a:prstGeom prst="roundRect">
            <a:avLst>
              <a:gd name="adj" fmla="val 6957"/>
            </a:avLst>
          </a:prstGeom>
          <a:solidFill>
            <a:srgbClr val="4A90D9"/>
          </a:solidFill>
        </p:spPr>
      </p:sp>
      <p:sp>
        <p:nvSpPr>
          <p:cNvPr id="6" name="Text 4"/>
          <p:cNvSpPr/>
          <p:nvPr/>
        </p:nvSpPr>
        <p:spPr>
          <a:xfrm>
            <a:off x="137160" y="960120"/>
            <a:ext cx="10515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Input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32×32×3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188720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8" name="Shape 6"/>
          <p:cNvSpPr/>
          <p:nvPr/>
        </p:nvSpPr>
        <p:spPr>
          <a:xfrm>
            <a:off x="1261872" y="960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1F6FBF"/>
          </a:solidFill>
        </p:spPr>
      </p:sp>
      <p:sp>
        <p:nvSpPr>
          <p:cNvPr id="9" name="Text 7"/>
          <p:cNvSpPr/>
          <p:nvPr/>
        </p:nvSpPr>
        <p:spPr>
          <a:xfrm>
            <a:off x="1261872" y="960120"/>
            <a:ext cx="12801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Conv1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3→32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BN+ReLU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16×16×32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42032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11" name="Shape 9"/>
          <p:cNvSpPr/>
          <p:nvPr/>
        </p:nvSpPr>
        <p:spPr>
          <a:xfrm>
            <a:off x="2615184" y="960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1F6FBF"/>
          </a:solidFill>
        </p:spPr>
      </p:sp>
      <p:sp>
        <p:nvSpPr>
          <p:cNvPr id="12" name="Text 10"/>
          <p:cNvSpPr/>
          <p:nvPr/>
        </p:nvSpPr>
        <p:spPr>
          <a:xfrm>
            <a:off x="2615184" y="960120"/>
            <a:ext cx="12801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Conv2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32→64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BN+ReLU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8×8×64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895344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14" name="Shape 12"/>
          <p:cNvSpPr/>
          <p:nvPr/>
        </p:nvSpPr>
        <p:spPr>
          <a:xfrm>
            <a:off x="3968496" y="960120"/>
            <a:ext cx="1280160" cy="1828800"/>
          </a:xfrm>
          <a:prstGeom prst="roundRect">
            <a:avLst>
              <a:gd name="adj" fmla="val 5714"/>
            </a:avLst>
          </a:prstGeom>
          <a:solidFill>
            <a:srgbClr val="1F6FBF"/>
          </a:solidFill>
        </p:spPr>
      </p:sp>
      <p:sp>
        <p:nvSpPr>
          <p:cNvPr id="15" name="Text 13"/>
          <p:cNvSpPr/>
          <p:nvPr/>
        </p:nvSpPr>
        <p:spPr>
          <a:xfrm>
            <a:off x="3968496" y="960120"/>
            <a:ext cx="12801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Conv3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64→128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BN+ReLU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Pool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4×4×128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48656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17" name="Shape 15"/>
          <p:cNvSpPr/>
          <p:nvPr/>
        </p:nvSpPr>
        <p:spPr>
          <a:xfrm>
            <a:off x="5321808" y="960120"/>
            <a:ext cx="1051560" cy="1828800"/>
          </a:xfrm>
          <a:prstGeom prst="roundRect">
            <a:avLst>
              <a:gd name="adj" fmla="val 6957"/>
            </a:avLst>
          </a:prstGeom>
          <a:solidFill>
            <a:schemeClr val="accent5">
              <a:lumMod val="75000"/>
            </a:schemeClr>
          </a:solidFill>
        </p:spPr>
      </p:sp>
      <p:sp>
        <p:nvSpPr>
          <p:cNvPr id="18" name="Text 16"/>
          <p:cNvSpPr/>
          <p:nvPr/>
        </p:nvSpPr>
        <p:spPr>
          <a:xfrm>
            <a:off x="5321808" y="960120"/>
            <a:ext cx="10515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Flatten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2048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73368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20" name="Shape 18"/>
          <p:cNvSpPr/>
          <p:nvPr/>
        </p:nvSpPr>
        <p:spPr>
          <a:xfrm>
            <a:off x="6446520" y="960120"/>
            <a:ext cx="1188720" cy="1828800"/>
          </a:xfrm>
          <a:prstGeom prst="roundRect">
            <a:avLst>
              <a:gd name="adj" fmla="val 6154"/>
            </a:avLst>
          </a:prstGeom>
          <a:solidFill>
            <a:schemeClr val="accent5">
              <a:lumMod val="75000"/>
            </a:schemeClr>
          </a:solidFill>
        </p:spPr>
      </p:sp>
      <p:sp>
        <p:nvSpPr>
          <p:cNvPr id="21" name="Text 19"/>
          <p:cNvSpPr/>
          <p:nvPr/>
        </p:nvSpPr>
        <p:spPr>
          <a:xfrm>
            <a:off x="6446520" y="960120"/>
            <a:ext cx="118872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FC+BN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ReLU+Drop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256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635240" y="1783080"/>
            <a:ext cx="73152" cy="91440"/>
          </a:xfrm>
          <a:prstGeom prst="rect">
            <a:avLst/>
          </a:prstGeom>
          <a:solidFill>
            <a:srgbClr val="6B7F94"/>
          </a:solidFill>
        </p:spPr>
      </p:sp>
      <p:sp>
        <p:nvSpPr>
          <p:cNvPr id="23" name="Shape 21"/>
          <p:cNvSpPr/>
          <p:nvPr/>
        </p:nvSpPr>
        <p:spPr>
          <a:xfrm>
            <a:off x="7708392" y="960120"/>
            <a:ext cx="1051560" cy="1828800"/>
          </a:xfrm>
          <a:prstGeom prst="roundRect">
            <a:avLst>
              <a:gd name="adj" fmla="val 6957"/>
            </a:avLst>
          </a:prstGeom>
          <a:solidFill>
            <a:schemeClr val="accent5">
              <a:lumMod val="75000"/>
            </a:schemeClr>
          </a:solidFill>
        </p:spPr>
      </p:sp>
      <p:sp>
        <p:nvSpPr>
          <p:cNvPr id="24" name="Text 22"/>
          <p:cNvSpPr/>
          <p:nvPr/>
        </p:nvSpPr>
        <p:spPr>
          <a:xfrm>
            <a:off x="7708392" y="960120"/>
            <a:ext cx="1051560" cy="18288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Output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10 classes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228600" y="2926080"/>
            <a:ext cx="4160520" cy="91440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2926080"/>
            <a:ext cx="64008" cy="91440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7" name="Text 25"/>
          <p:cNvSpPr/>
          <p:nvPr/>
        </p:nvSpPr>
        <p:spPr>
          <a:xfrm>
            <a:off x="411480" y="2980944"/>
            <a:ext cx="3886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3×3 Kernels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11480" y="3291840"/>
            <a:ext cx="38862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Same receptive field as 5×5 but fewer parameters and more non-linearity (VGGNet principle). Used throughout all conv layers.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709160" y="2926080"/>
            <a:ext cx="4160520" cy="91440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2926080"/>
            <a:ext cx="64008" cy="91440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1" name="Text 29"/>
          <p:cNvSpPr/>
          <p:nvPr/>
        </p:nvSpPr>
        <p:spPr>
          <a:xfrm>
            <a:off x="4892040" y="2980944"/>
            <a:ext cx="3886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32→64→128 Filters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892040" y="3291840"/>
            <a:ext cx="38862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Classic doubling schedule. As spatial size halves (via MaxPool), depth doubles — total information capacity stays roughly constant.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228600" y="3950208"/>
            <a:ext cx="4160520" cy="91440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228600" y="3950208"/>
            <a:ext cx="64008" cy="91440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5" name="Text 33"/>
          <p:cNvSpPr/>
          <p:nvPr/>
        </p:nvSpPr>
        <p:spPr>
          <a:xfrm>
            <a:off x="411480" y="4005072"/>
            <a:ext cx="3886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Padding = 1 (same)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11480" y="4315968"/>
            <a:ext cx="38862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Preserves spatial dimensions: (32 - 3 + 2) / 1 + 1 = 32. No information loss at borders during convolution.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709160" y="3950208"/>
            <a:ext cx="4160520" cy="91440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09160" y="3950208"/>
            <a:ext cx="64008" cy="91440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9" name="Text 37"/>
          <p:cNvSpPr/>
          <p:nvPr/>
        </p:nvSpPr>
        <p:spPr>
          <a:xfrm>
            <a:off x="4892040" y="4005072"/>
            <a:ext cx="3886200" cy="2926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~780K Parameters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892040" y="4315968"/>
            <a:ext cx="388620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Compact enough to train on a single GPU, large enough for strong representational capacity on SVHN.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Data Preprocessing &amp; Augmentation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87552"/>
            <a:ext cx="4160520" cy="18105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87552"/>
            <a:ext cx="64008" cy="181051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7" name="Text 5"/>
          <p:cNvSpPr/>
          <p:nvPr/>
        </p:nvSpPr>
        <p:spPr>
          <a:xfrm>
            <a:off x="411480" y="1078992"/>
            <a:ext cx="502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78408" y="1078992"/>
            <a:ext cx="33375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Crop (Train only)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" y="1554480"/>
            <a:ext cx="3886200" cy="11704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Pad image by 4px each side → randomly crop back to 32×32. Creates positional variation — teaches translation invariance without distortion.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709160" y="987552"/>
            <a:ext cx="4160520" cy="18105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709160" y="987552"/>
            <a:ext cx="64008" cy="181051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2" name="Text 10"/>
          <p:cNvSpPr/>
          <p:nvPr/>
        </p:nvSpPr>
        <p:spPr>
          <a:xfrm>
            <a:off x="4892040" y="1078992"/>
            <a:ext cx="502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②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458968" y="1078992"/>
            <a:ext cx="33375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Horizontal Flip (Train only)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92040" y="1554480"/>
            <a:ext cx="3886200" cy="11704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50% probability flip. Increases dataset diversity and teaches stroke-orientation robustness. Applied only during training.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228600" y="2980944"/>
            <a:ext cx="4160520" cy="18105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8600" y="2980944"/>
            <a:ext cx="64008" cy="181051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7" name="Text 15"/>
          <p:cNvSpPr/>
          <p:nvPr/>
        </p:nvSpPr>
        <p:spPr>
          <a:xfrm>
            <a:off x="411480" y="3072384"/>
            <a:ext cx="502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③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78408" y="3072384"/>
            <a:ext cx="33375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ToTensor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" y="3547872"/>
            <a:ext cx="3886200" cy="11704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Convert PIL image to PyTorch tensor. Scales pixel values from [0, 255] to [0.0, 1.0] automatically.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709160" y="2980944"/>
            <a:ext cx="4160520" cy="18105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2980944"/>
            <a:ext cx="64008" cy="181051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2" name="Text 20"/>
          <p:cNvSpPr/>
          <p:nvPr/>
        </p:nvSpPr>
        <p:spPr>
          <a:xfrm>
            <a:off x="4892040" y="3072384"/>
            <a:ext cx="50292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5458968" y="3072384"/>
            <a:ext cx="3337560" cy="4114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Normalise to [−1, 1]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892040" y="3547872"/>
            <a:ext cx="3886200" cy="1170432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Mean=[0.5, 0.5, 0.5], Std=[0.5, 0.5, 0.5] per channel. Centers distribution around zero for faster gradient convergence.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28600" y="4892040"/>
            <a:ext cx="8686800" cy="137160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26" name="Text 24"/>
          <p:cNvSpPr/>
          <p:nvPr/>
        </p:nvSpPr>
        <p:spPr>
          <a:xfrm>
            <a:off x="320040" y="4901184"/>
            <a:ext cx="8503920" cy="1280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6B7F94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Test set: ToTensor + Normalise only — no augmentation applied, so evaluation is unbiased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1506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Setup &amp; Hyperparameters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graphicFrame>
        <p:nvGraphicFramePr>
          <p:cNvPr id="9" name="Table 0"/>
          <p:cNvGraphicFramePr>
            <a:graphicFrameLocks noGrp="1"/>
          </p:cNvGraphicFramePr>
          <p:nvPr/>
        </p:nvGraphicFramePr>
        <p:xfrm>
          <a:off x="228600" y="987552"/>
          <a:ext cx="8686800" cy="393192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4754880"/>
              </a:tblGrid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Hyperparameter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Value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Justification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Batch Size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64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Balances GPU memory and gradient quality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Learning Rate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0.001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Adam default; effective for deep networks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Epochs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15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Model converged — no further gain observed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Optimiser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Adam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Adaptive per-parameter learning rates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Weight Decay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1×10⁻⁴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L2 regularisation — prevents large weights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Loss Function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CrossEntropyLoss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Standard for multi-class classification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LR Scheduler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ReduceLROnPlateau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Halves LR when test accuracy plateaus (patience=2)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Dropout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p = 0.5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dirty="0">
                          <a:solidFill>
                            <a:srgbClr val="0D1F35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50% neuron dropout in fully connected layers</a:t>
                      </a:r>
                      <a:endParaRPr lang="en-US" sz="12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B8D4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Code Highlight: Model Definition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5120640" cy="3977640"/>
          </a:xfrm>
          <a:prstGeom prst="rect">
            <a:avLst/>
          </a:prstGeom>
          <a:solidFill>
            <a:srgbClr val="0D1B2A"/>
          </a:solidFill>
        </p:spPr>
      </p:sp>
      <p:sp>
        <p:nvSpPr>
          <p:cNvPr id="6" name="Text 4"/>
          <p:cNvSpPr/>
          <p:nvPr/>
        </p:nvSpPr>
        <p:spPr>
          <a:xfrm>
            <a:off x="320040" y="1005840"/>
            <a:ext cx="4937760" cy="3886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class SVHN_CNN(nn.Module):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def __init__(self, num_classes=10):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super().__init__()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Block 1: 32×32×3 → 16×16×32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self.conv1 = nn.Conv2d(3, 32, kernel_size=3, padding=1)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self.bn1   = nn.BatchNorm2d(32)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self.relu1 = nn.ReLU(inplace=True)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self.pool1 = nn.MaxPool2d(2, 2)   # halve spatial dims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Block 2: 16×16×32 → 8×8×64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self.conv2 = nn.Conv2d(32, 64, kernel_size=3, padding=1)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self.bn2   = nn.BatchNorm2d(64)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... (same pattern) ...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Block 3: 8×8×64 → 4×4×128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Fully connected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self.fc1   = nn.Linear(128*4*4, 256)  # flatten: 2048→256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self.drop1 = nn.Dropout(0.5)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self.fc2   = nn.Linear(256, 128)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self.fc3   = nn.Linear(128, 10)       # → 10 digit classes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577840" y="960120"/>
            <a:ext cx="3337560" cy="694944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577840" y="960120"/>
            <a:ext cx="64008" cy="694944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9" name="Text 7"/>
          <p:cNvSpPr/>
          <p:nvPr/>
        </p:nvSpPr>
        <p:spPr>
          <a:xfrm>
            <a:off x="5760720" y="1005840"/>
            <a:ext cx="306324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kernel_size=3, padding=1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760720" y="1289304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"Same" padding — preserves 32×32 spatial dimensions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77840" y="1728216"/>
            <a:ext cx="3337560" cy="694944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5577840" y="1728216"/>
            <a:ext cx="64008" cy="694944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13" name="Text 11"/>
          <p:cNvSpPr/>
          <p:nvPr/>
        </p:nvSpPr>
        <p:spPr>
          <a:xfrm>
            <a:off x="5760720" y="1773936"/>
            <a:ext cx="306324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BatchNorm2d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760720" y="2057400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Normalises activations per batch; accelerates convergence 2× 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577840" y="2496312"/>
            <a:ext cx="3337560" cy="694944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577840" y="2496312"/>
            <a:ext cx="64008" cy="694944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17" name="Text 15"/>
          <p:cNvSpPr/>
          <p:nvPr/>
        </p:nvSpPr>
        <p:spPr>
          <a:xfrm>
            <a:off x="5760720" y="2542032"/>
            <a:ext cx="306324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MaxPool2d(2,2)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760720" y="2825496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Halves H and W — 32→16→8→4 across 3 blocks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577840" y="3264408"/>
            <a:ext cx="3337560" cy="694944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5577840" y="3264408"/>
            <a:ext cx="64008" cy="694944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21" name="Text 19"/>
          <p:cNvSpPr/>
          <p:nvPr/>
        </p:nvSpPr>
        <p:spPr>
          <a:xfrm>
            <a:off x="5760720" y="3310128"/>
            <a:ext cx="306324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Dropout(0.5)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760720" y="3593592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Zeros 50% of FC neurons during training — prevents co-adaptation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032504"/>
            <a:ext cx="3337560" cy="694944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5577840" y="4032504"/>
            <a:ext cx="64008" cy="694944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25" name="Text 23"/>
          <p:cNvSpPr/>
          <p:nvPr/>
        </p:nvSpPr>
        <p:spPr>
          <a:xfrm>
            <a:off x="5760720" y="4078224"/>
            <a:ext cx="3063240" cy="25603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A5C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fc3: 128→10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760720" y="4361688"/>
            <a:ext cx="306324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logits, one per digit class; CrossEntropyLoss applies softmax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Code Highlight: Training Loop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4937760" cy="3977640"/>
          </a:xfrm>
          <a:prstGeom prst="rect">
            <a:avLst/>
          </a:prstGeom>
          <a:solidFill>
            <a:srgbClr val="0D1B2A"/>
          </a:solidFill>
        </p:spPr>
      </p:sp>
      <p:sp>
        <p:nvSpPr>
          <p:cNvPr id="6" name="Text 4"/>
          <p:cNvSpPr/>
          <p:nvPr/>
        </p:nvSpPr>
        <p:spPr>
          <a:xfrm>
            <a:off x="320040" y="1005840"/>
            <a:ext cx="4754880" cy="38862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def train_one_epoch(model, loader,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optimizer, criterion, device):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model.train()  # enable Dropout, BN train mode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total_loss, correct = 0.0, 0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for images, labels in loader: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images = images.to(device)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labels = labels.to(device)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optimizer.zero_grad()      # clear old gradients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outputs = model(images)    # forward pass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loss = criterion(outputs, labels)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loss.backward()            # backpropagation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optimizer.step()           # update weights θ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# track running loss and accuracy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total_loss += loss.item() * images.size(0)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correct    += (outputs.argmax(1)==labels).sum()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return total_loss/len(loader.dataset),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A8D8FF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         correct/len(loader.dataset)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394960" y="960120"/>
            <a:ext cx="3520440" cy="8961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394960" y="960120"/>
            <a:ext cx="457200" cy="8961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①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897880" y="1014984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model.train()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897880" y="1325880"/>
            <a:ext cx="292608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Enables Dropout (masks 50% of neurons) and BatchNorm uses batch statistics — not running averages.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394960" y="1947672"/>
            <a:ext cx="3520440" cy="8961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394960" y="1947672"/>
            <a:ext cx="457200" cy="8961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②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897880" y="2002536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zero_grad()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897880" y="2313432"/>
            <a:ext cx="292608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PyTorch accumulates gradients by default. Clearing each step prevents errors from prior batches.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394960" y="2935224"/>
            <a:ext cx="3520440" cy="8961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394960" y="2935224"/>
            <a:ext cx="457200" cy="8961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③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897880" y="2990088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loss.backward()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97880" y="3300984"/>
            <a:ext cx="292608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Computes gradients for all parameters via chain rule (backpropagation through all layers).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394960" y="3922776"/>
            <a:ext cx="3520440" cy="896112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394960" y="3922776"/>
            <a:ext cx="457200" cy="89611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④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5897880" y="3977640"/>
            <a:ext cx="2926080" cy="27432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optimizer.step()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897880" y="4288536"/>
            <a:ext cx="2926080" cy="50292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Updates parameters: θ ← θ − lr · ∇L(θ). Adam adapts lr per parameter automatically.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Results: Loss &amp; Accuracy Curves (15 Epochs)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pic>
        <p:nvPicPr>
          <p:cNvPr id="5" name="Image 0" descr="D:/Desktop/test/Pics/Figure_1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28600" y="960120"/>
            <a:ext cx="8686800" cy="33375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4361688"/>
            <a:ext cx="8686800" cy="658368"/>
          </a:xfrm>
          <a:prstGeom prst="rect">
            <a:avLst/>
          </a:prstGeom>
          <a:solidFill>
            <a:srgbClr val="E8F2FC"/>
          </a:solidFill>
        </p:spPr>
      </p:sp>
      <p:sp>
        <p:nvSpPr>
          <p:cNvPr id="7" name="Text 4"/>
          <p:cNvSpPr/>
          <p:nvPr/>
        </p:nvSpPr>
        <p:spPr>
          <a:xfrm>
            <a:off x="365760" y="4370832"/>
            <a:ext cx="8412480" cy="64008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Key Observations: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Sharp loss drop in first 5 epochs. Test loss converges to 0.279 (better than training loss due to Dropout).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No overfitting — test loss tracks training loss throughout. Test accuracy consistently leads training accuracy because Dropout masks neurons during training but not at evaluation.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Results: Confusion Matrix on SVHN Test Set (26,032 samples)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pic>
        <p:nvPicPr>
          <p:cNvPr id="5" name="Image 0" descr="D:/Desktop/test/Pics/confusion_matrix_full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731520" y="960120"/>
            <a:ext cx="4754880" cy="3931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715000" y="960120"/>
            <a:ext cx="3200400" cy="39319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15000" y="960120"/>
            <a:ext cx="3200400" cy="38404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8" name="Text 5"/>
          <p:cNvSpPr/>
          <p:nvPr/>
        </p:nvSpPr>
        <p:spPr>
          <a:xfrm>
            <a:off x="5806440" y="960120"/>
            <a:ext cx="30175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Analysis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806440" y="1389888"/>
            <a:ext cx="3017520" cy="3429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Diagonal dominance shows strong classification across all 10 classes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 1 has the highest true count (4,848) — most common in the dataset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 3 shows most off-diagonal confusion — mainly confused with 2 and 5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 8 shows confusion with 6 (similar loops at this resolution)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Digit 9 often confused with 4 and 6 (stroke similarity)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Overall accuracy: 91.88% — strong for a custom model from scratch</a:t>
            </a:r>
            <a:endParaRPr lang="en-US" sz="11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Results: Per-Class Precision &amp; Recall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pic>
        <p:nvPicPr>
          <p:cNvPr id="5" name="Image 0" descr="D:/Desktop/test/Pics/per_class_precision_recall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28600" y="960120"/>
            <a:ext cx="8686800" cy="329184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228600" y="4315968"/>
            <a:ext cx="8686800" cy="685800"/>
          </a:xfrm>
          <a:prstGeom prst="rect">
            <a:avLst/>
          </a:prstGeom>
          <a:solidFill>
            <a:srgbClr val="E8F2FC"/>
          </a:solidFill>
        </p:spPr>
      </p:sp>
      <p:sp>
        <p:nvSpPr>
          <p:cNvPr id="7" name="Text 4"/>
          <p:cNvSpPr/>
          <p:nvPr/>
        </p:nvSpPr>
        <p:spPr>
          <a:xfrm>
            <a:off x="365760" y="4325112"/>
            <a:ext cx="8412480" cy="65836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precision: Digit 4 (0.95)  |  Best recall: Digits 1 &amp; 2 (0.95)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Lowest recall: Digit 8 (0.85) — confusion mainly with 6 and 3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Most classes achieve 0.88–0.95 precision and 0.86–0.95 recall — consistent performance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Results: Misclassified Test Images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pic>
        <p:nvPicPr>
          <p:cNvPr id="5" name="Image 0" descr="D:/Desktop/test/Pics/misclassifications.png"/>
          <p:cNvPicPr>
            <a:picLocks noChangeAspect="1"/>
          </p:cNvPicPr>
          <p:nvPr/>
        </p:nvPicPr>
        <p:blipFill>
          <a:blip r:embed="rId1"/>
          <a:srcRect/>
          <a:stretch>
            <a:fillRect/>
          </a:stretch>
        </p:blipFill>
        <p:spPr>
          <a:xfrm>
            <a:off x="228600" y="960120"/>
            <a:ext cx="4572000" cy="39319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0" y="960120"/>
            <a:ext cx="3886200" cy="39319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029200" y="968375"/>
            <a:ext cx="3886200" cy="38404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8" name="Text 5"/>
          <p:cNvSpPr/>
          <p:nvPr/>
        </p:nvSpPr>
        <p:spPr>
          <a:xfrm>
            <a:off x="5120640" y="960120"/>
            <a:ext cx="3703320" cy="38404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Error Pattern Analysis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120640" y="1389888"/>
            <a:ext cx="3703320" cy="3429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 = True label, P = Predicted label shown above each image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6↔9: Rotationally similar at 32×32 resolution — most common confusion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3↔8: Similar closed-loop structure in the lower half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1↔7: Similar vertical stroke — especially in italic/styled fonts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Background clutter causes some errors — digit region is ambiguous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Multi-digit images: model focuses on wrong digit in the crop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Most errors involve visually ambiguous pairs — not random noise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Discussion &amp; Result Interpretation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8686800" cy="123444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64008" cy="123444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7" name="Text 5"/>
          <p:cNvSpPr/>
          <p:nvPr/>
        </p:nvSpPr>
        <p:spPr>
          <a:xfrm>
            <a:off x="411480" y="1024128"/>
            <a:ext cx="832104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Test Acc &gt; Train Acc?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11480" y="1380744"/>
            <a:ext cx="8321040" cy="76809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Dropout(0.5) masks 50% of neurons during training — artificially suppresses the training metric. During eval(), Dropout is OFF — full model capacity is used. This is the expected behaviour with Dropout regularisation.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2313432"/>
            <a:ext cx="8686800" cy="123444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2313432"/>
            <a:ext cx="64008" cy="123444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1" name="Text 9"/>
          <p:cNvSpPr/>
          <p:nvPr/>
        </p:nvSpPr>
        <p:spPr>
          <a:xfrm>
            <a:off x="411480" y="2377440"/>
            <a:ext cx="832104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Accuracy Plateaus After Epoch 10?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11480" y="2734056"/>
            <a:ext cx="8321040" cy="76809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Model has extracted most useful information from the current architecture and augmentation strategy. ReduceLROnPlateau reduced the learning rate — the model stabilised rather than getting stuck. Deeper networks or more augmentation would be needed for further gains.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3666744"/>
            <a:ext cx="8686800" cy="123444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3666744"/>
            <a:ext cx="64008" cy="123444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5" name="Text 13"/>
          <p:cNvSpPr/>
          <p:nvPr/>
        </p:nvSpPr>
        <p:spPr>
          <a:xfrm>
            <a:off x="411480" y="3730752"/>
            <a:ext cx="8321040" cy="329184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Why No Overfitting?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11480" y="4087368"/>
            <a:ext cx="8321040" cy="768096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Dropout(0.5) provides strong regularisation in FC layers. BatchNorm acts as an implicit regulariser by normalising activations. L2 weight decay (1×10⁻⁴) prevents large weight values. Data augmentation increased effective dataset diversity.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Challenges &amp; Solutions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868680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1417320" cy="74980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7" name="Text 5"/>
          <p:cNvSpPr/>
          <p:nvPr/>
        </p:nvSpPr>
        <p:spPr>
          <a:xfrm>
            <a:off x="256032" y="960120"/>
            <a:ext cx="1353312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Early Overfitting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783080" y="1069848"/>
            <a:ext cx="6949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Problem → </a:t>
            </a:r>
            <a:r>
              <a:rPr lang="en-US" sz="12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Added Dropout(0.5) + L2 weight decay (1e-4) → test loss stabilised throughout training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228600" y="1783080"/>
            <a:ext cx="868680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28600" y="1783080"/>
            <a:ext cx="1417320" cy="74980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11" name="Text 9"/>
          <p:cNvSpPr/>
          <p:nvPr/>
        </p:nvSpPr>
        <p:spPr>
          <a:xfrm>
            <a:off x="256032" y="1783080"/>
            <a:ext cx="1353312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Slow Convergence (No BN)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1783080" y="1892808"/>
            <a:ext cx="6949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Problem → </a:t>
            </a:r>
            <a:r>
              <a:rPr lang="en-US" sz="12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Added BatchNorm after every layer → 2× faster convergence; more stable gradient flow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28600" y="2606040"/>
            <a:ext cx="868680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28600" y="2606040"/>
            <a:ext cx="1417320" cy="74980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15" name="Text 13"/>
          <p:cNvSpPr/>
          <p:nvPr/>
        </p:nvSpPr>
        <p:spPr>
          <a:xfrm>
            <a:off x="256032" y="2606040"/>
            <a:ext cx="1353312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Windows Multiprocessing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783080" y="2715768"/>
            <a:ext cx="6949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Problem → </a:t>
            </a:r>
            <a:r>
              <a:rPr lang="en-US" sz="12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Set num_workers=0 in DataLoader → eliminated OS-level deadlock in training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28600" y="3429000"/>
            <a:ext cx="868680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3429000"/>
            <a:ext cx="1417320" cy="74980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19" name="Text 17"/>
          <p:cNvSpPr/>
          <p:nvPr/>
        </p:nvSpPr>
        <p:spPr>
          <a:xfrm>
            <a:off x="256032" y="3429000"/>
            <a:ext cx="1353312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LR Too High at Later Epochs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783080" y="3538728"/>
            <a:ext cx="6949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Problem → </a:t>
            </a:r>
            <a:r>
              <a:rPr lang="en-US" sz="12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ReduceLROnPlateau scheduler → automatic LR halving on plateau; oscillation eliminated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28600" y="4251960"/>
            <a:ext cx="8686800" cy="749808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28600" y="4260215"/>
            <a:ext cx="1417320" cy="749808"/>
          </a:xfrm>
          <a:prstGeom prst="rect">
            <a:avLst/>
          </a:prstGeom>
          <a:solidFill>
            <a:schemeClr val="accent5">
              <a:lumMod val="75000"/>
            </a:schemeClr>
          </a:solidFill>
        </p:spPr>
      </p:sp>
      <p:sp>
        <p:nvSpPr>
          <p:cNvPr id="23" name="Text 21"/>
          <p:cNvSpPr/>
          <p:nvPr/>
        </p:nvSpPr>
        <p:spPr>
          <a:xfrm>
            <a:off x="256032" y="4251960"/>
            <a:ext cx="1353312" cy="74980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Choosing Kernel Size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1783080" y="4361688"/>
            <a:ext cx="6949440" cy="566928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F6FB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⚠ Problem → </a:t>
            </a:r>
            <a:r>
              <a:rPr lang="en-US" sz="1200" b="1" dirty="0">
                <a:solidFill>
                  <a:srgbClr val="4A90D9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✓ </a:t>
            </a: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3×3 preferred: same receptive field as 5×5 but fewer parameters and more non-linearity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Conclusion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1993392" cy="960120"/>
          </a:xfrm>
          <a:prstGeom prst="roundRect">
            <a:avLst>
              <a:gd name="adj" fmla="val 7619"/>
            </a:avLst>
          </a:prstGeom>
          <a:solidFill>
            <a:srgbClr val="E8F2FC"/>
          </a:solidFill>
        </p:spPr>
      </p:sp>
      <p:sp>
        <p:nvSpPr>
          <p:cNvPr id="6" name="Text 4"/>
          <p:cNvSpPr/>
          <p:nvPr/>
        </p:nvSpPr>
        <p:spPr>
          <a:xfrm>
            <a:off x="228600" y="1033272"/>
            <a:ext cx="1993392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91.88%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28600" y="1488186"/>
            <a:ext cx="199339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Test Accuracy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04872" y="960120"/>
            <a:ext cx="1993392" cy="960120"/>
          </a:xfrm>
          <a:prstGeom prst="roundRect">
            <a:avLst>
              <a:gd name="adj" fmla="val 7619"/>
            </a:avLst>
          </a:prstGeom>
          <a:solidFill>
            <a:srgbClr val="E8F2FC"/>
          </a:solidFill>
        </p:spPr>
      </p:sp>
      <p:sp>
        <p:nvSpPr>
          <p:cNvPr id="9" name="Text 7"/>
          <p:cNvSpPr/>
          <p:nvPr/>
        </p:nvSpPr>
        <p:spPr>
          <a:xfrm>
            <a:off x="2404872" y="1033272"/>
            <a:ext cx="1993392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2404872" y="1488186"/>
            <a:ext cx="199339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 Epochs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81144" y="960120"/>
            <a:ext cx="1993392" cy="960120"/>
          </a:xfrm>
          <a:prstGeom prst="roundRect">
            <a:avLst>
              <a:gd name="adj" fmla="val 7619"/>
            </a:avLst>
          </a:prstGeom>
          <a:solidFill>
            <a:srgbClr val="E8F2FC"/>
          </a:solidFill>
        </p:spPr>
      </p:sp>
      <p:sp>
        <p:nvSpPr>
          <p:cNvPr id="12" name="Text 10"/>
          <p:cNvSpPr/>
          <p:nvPr/>
        </p:nvSpPr>
        <p:spPr>
          <a:xfrm>
            <a:off x="4581144" y="1033272"/>
            <a:ext cx="1993392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0.279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4581144" y="1488186"/>
            <a:ext cx="199339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Final Test Loss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757416" y="960120"/>
            <a:ext cx="1993392" cy="960120"/>
          </a:xfrm>
          <a:prstGeom prst="roundRect">
            <a:avLst>
              <a:gd name="adj" fmla="val 7619"/>
            </a:avLst>
          </a:prstGeom>
          <a:solidFill>
            <a:srgbClr val="E8F2FC"/>
          </a:solidFill>
        </p:spPr>
      </p:sp>
      <p:sp>
        <p:nvSpPr>
          <p:cNvPr id="15" name="Text 13"/>
          <p:cNvSpPr/>
          <p:nvPr/>
        </p:nvSpPr>
        <p:spPr>
          <a:xfrm>
            <a:off x="6757416" y="1033272"/>
            <a:ext cx="1993392" cy="52806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~780K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757416" y="1488186"/>
            <a:ext cx="1993392" cy="384048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000" dirty="0">
                <a:solidFill>
                  <a:srgbClr val="3D5166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Trainable Params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28600" y="2057400"/>
            <a:ext cx="4160520" cy="128016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28600" y="2057400"/>
            <a:ext cx="64008" cy="12801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9" name="Text 17"/>
          <p:cNvSpPr/>
          <p:nvPr/>
        </p:nvSpPr>
        <p:spPr>
          <a:xfrm>
            <a:off x="429768" y="2130552"/>
            <a:ext cx="3840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29768" y="2478024"/>
            <a:ext cx="384048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Three conv blocks with doubling filter depth (32→64→128) capture low-to-high level features. 3×3 kernels with same padding preserve spatial information.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709160" y="2057400"/>
            <a:ext cx="4160520" cy="128016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09160" y="2057400"/>
            <a:ext cx="64008" cy="12801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3" name="Text 21"/>
          <p:cNvSpPr/>
          <p:nvPr/>
        </p:nvSpPr>
        <p:spPr>
          <a:xfrm>
            <a:off x="4910328" y="2130552"/>
            <a:ext cx="3840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Regularisation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10328" y="2478024"/>
            <a:ext cx="384048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BatchNorm + Dropout(0.5) + L2 weight decay work together. Near-zero overfitting on 73,000 samples confirms they complement each other.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228600" y="3474720"/>
            <a:ext cx="4160520" cy="128016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3474720"/>
            <a:ext cx="64008" cy="12801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7" name="Text 25"/>
          <p:cNvSpPr/>
          <p:nvPr/>
        </p:nvSpPr>
        <p:spPr>
          <a:xfrm>
            <a:off x="429768" y="3547872"/>
            <a:ext cx="3840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Optimisation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29768" y="3895344"/>
            <a:ext cx="384048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Adam with ReduceLROnPlateau gave stable, fast convergence. The scheduler prevented oscillation in later epochs while still allowing improvement.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4709160" y="3474720"/>
            <a:ext cx="4160520" cy="128016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709160" y="3474720"/>
            <a:ext cx="64008" cy="12801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31" name="Text 29"/>
          <p:cNvSpPr/>
          <p:nvPr/>
        </p:nvSpPr>
        <p:spPr>
          <a:xfrm>
            <a:off x="4910328" y="3547872"/>
            <a:ext cx="384048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Augmentation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4910328" y="3895344"/>
            <a:ext cx="3840480" cy="82296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Random cropping and horizontal flipping contributed to the gap between training accuracy (88.69%) and test accuracy (91.88%).</a:t>
            </a:r>
            <a:endParaRPr lang="en-US" sz="11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64008" cy="5143500"/>
          </a:xfrm>
          <a:prstGeom prst="rect">
            <a:avLst/>
          </a:prstGeom>
          <a:solidFill>
            <a:srgbClr val="1A3A5C"/>
          </a:solidFill>
        </p:spPr>
      </p:sp>
      <p:sp>
        <p:nvSpPr>
          <p:cNvPr id="3" name="Text 1"/>
          <p:cNvSpPr/>
          <p:nvPr/>
        </p:nvSpPr>
        <p:spPr>
          <a:xfrm>
            <a:off x="228600" y="164592"/>
            <a:ext cx="8686800" cy="64008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Future Work &amp; Improvements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28600" y="841248"/>
            <a:ext cx="8686800" cy="18288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5" name="Shape 3"/>
          <p:cNvSpPr/>
          <p:nvPr/>
        </p:nvSpPr>
        <p:spPr>
          <a:xfrm>
            <a:off x="228600" y="960120"/>
            <a:ext cx="8686800" cy="7315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28600" y="960120"/>
            <a:ext cx="64008" cy="73152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7" name="Text 5"/>
          <p:cNvSpPr/>
          <p:nvPr/>
        </p:nvSpPr>
        <p:spPr>
          <a:xfrm>
            <a:off x="411480" y="996696"/>
            <a:ext cx="3200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Deeper Architecture (ResNet-style)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11880" y="1014984"/>
            <a:ext cx="521208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Residual connections allow training 20+ layer networks without vanishing gradients. Expected accuracy gain: ~95%+ from the current 91.88%.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20440" y="1051560"/>
            <a:ext cx="18288" cy="548640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10" name="Shape 8"/>
          <p:cNvSpPr/>
          <p:nvPr/>
        </p:nvSpPr>
        <p:spPr>
          <a:xfrm>
            <a:off x="228600" y="1764792"/>
            <a:ext cx="8686800" cy="7315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228600" y="1764792"/>
            <a:ext cx="64008" cy="73152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2" name="Text 10"/>
          <p:cNvSpPr/>
          <p:nvPr/>
        </p:nvSpPr>
        <p:spPr>
          <a:xfrm>
            <a:off x="411480" y="1801368"/>
            <a:ext cx="3200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Advanced Augmentation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611880" y="1819656"/>
            <a:ext cx="521208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Colour jitter, rotation, Cutout, MixUp — increases effective dataset diversity and improves generalisation on unseen lighting/background conditions.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520440" y="1856232"/>
            <a:ext cx="18288" cy="548640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15" name="Shape 13"/>
          <p:cNvSpPr/>
          <p:nvPr/>
        </p:nvSpPr>
        <p:spPr>
          <a:xfrm>
            <a:off x="228600" y="2569464"/>
            <a:ext cx="8686800" cy="7315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228600" y="2569464"/>
            <a:ext cx="64008" cy="73152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7" name="Text 15"/>
          <p:cNvSpPr/>
          <p:nvPr/>
        </p:nvSpPr>
        <p:spPr>
          <a:xfrm>
            <a:off x="411480" y="2606040"/>
            <a:ext cx="3200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Ensemble Methods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611880" y="2624328"/>
            <a:ext cx="521208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 5 different model seeds, average predictions. Typically adds 1–2% accuracy with no architecture changes — low cost, reliable gain.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520440" y="2660904"/>
            <a:ext cx="18288" cy="548640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20" name="Shape 18"/>
          <p:cNvSpPr/>
          <p:nvPr/>
        </p:nvSpPr>
        <p:spPr>
          <a:xfrm>
            <a:off x="228600" y="3374136"/>
            <a:ext cx="8686800" cy="7315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228600" y="3374136"/>
            <a:ext cx="64008" cy="73152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2" name="Text 20"/>
          <p:cNvSpPr/>
          <p:nvPr/>
        </p:nvSpPr>
        <p:spPr>
          <a:xfrm>
            <a:off x="411480" y="3410712"/>
            <a:ext cx="3200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Transfer Learning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3611880" y="3429000"/>
            <a:ext cx="521208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Fine-tune ImageNet-pretrained ResNet-18 as starting point. Pre-learned low-level features (edges, textures) dramatically accelerate training.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520440" y="3465576"/>
            <a:ext cx="18288" cy="548640"/>
          </a:xfrm>
          <a:prstGeom prst="rect">
            <a:avLst/>
          </a:prstGeom>
          <a:solidFill>
            <a:srgbClr val="B8D4F0"/>
          </a:solidFill>
        </p:spPr>
      </p:sp>
      <p:sp>
        <p:nvSpPr>
          <p:cNvPr id="25" name="Shape 23"/>
          <p:cNvSpPr/>
          <p:nvPr/>
        </p:nvSpPr>
        <p:spPr>
          <a:xfrm>
            <a:off x="228600" y="4178808"/>
            <a:ext cx="8686800" cy="731520"/>
          </a:xfrm>
          <a:prstGeom prst="rect">
            <a:avLst/>
          </a:prstGeom>
          <a:solidFill>
            <a:srgbClr val="E8F2FC"/>
          </a:solidFill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228600" y="4178808"/>
            <a:ext cx="64008" cy="73152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27" name="Text 25"/>
          <p:cNvSpPr/>
          <p:nvPr/>
        </p:nvSpPr>
        <p:spPr>
          <a:xfrm>
            <a:off x="411480" y="4215384"/>
            <a:ext cx="3200400" cy="32004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3A5C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Attention Mechanisms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611880" y="4233672"/>
            <a:ext cx="5212080" cy="62179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D1F35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Add SE blocks or CBAM spatial attention to help the model focus on the most discriminative digit regions — ignores background clutter better.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20440" y="4270248"/>
            <a:ext cx="18288" cy="548640"/>
          </a:xfrm>
          <a:prstGeom prst="rect">
            <a:avLst/>
          </a:prstGeom>
          <a:solidFill>
            <a:srgbClr val="B8D4F0"/>
          </a:solidFill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3A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9144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Thank You!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8229600" cy="36576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200400" y="1755648"/>
            <a:ext cx="2743200" cy="36576"/>
          </a:xfrm>
          <a:prstGeom prst="rect">
            <a:avLst/>
          </a:prstGeom>
          <a:solidFill>
            <a:srgbClr val="4A90D9"/>
          </a:solidFill>
        </p:spPr>
      </p:sp>
      <p:sp>
        <p:nvSpPr>
          <p:cNvPr id="5" name="Shape 3"/>
          <p:cNvSpPr/>
          <p:nvPr/>
        </p:nvSpPr>
        <p:spPr>
          <a:xfrm>
            <a:off x="365760" y="1920240"/>
            <a:ext cx="1920240" cy="8229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6" name="Text 4"/>
          <p:cNvSpPr/>
          <p:nvPr/>
        </p:nvSpPr>
        <p:spPr>
          <a:xfrm>
            <a:off x="365760" y="1938528"/>
            <a:ext cx="1920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91.88%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365760" y="2395728"/>
            <a:ext cx="19202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Best Accuracy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468880" y="1920240"/>
            <a:ext cx="1920240" cy="8229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9" name="Text 7"/>
          <p:cNvSpPr/>
          <p:nvPr/>
        </p:nvSpPr>
        <p:spPr>
          <a:xfrm>
            <a:off x="2468880" y="1938528"/>
            <a:ext cx="1920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15 Epochs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2468880" y="2395728"/>
            <a:ext cx="19202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Training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0" y="1920240"/>
            <a:ext cx="1920240" cy="8229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2" name="Text 10"/>
          <p:cNvSpPr/>
          <p:nvPr/>
        </p:nvSpPr>
        <p:spPr>
          <a:xfrm>
            <a:off x="4572000" y="1938528"/>
            <a:ext cx="1920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CNN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572000" y="2395728"/>
            <a:ext cx="19202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Architecture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675120" y="1920240"/>
            <a:ext cx="1920240" cy="822960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5" name="Text 13"/>
          <p:cNvSpPr/>
          <p:nvPr/>
        </p:nvSpPr>
        <p:spPr>
          <a:xfrm>
            <a:off x="6675120" y="1938528"/>
            <a:ext cx="1920240" cy="4572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900" b="1" dirty="0">
                <a:solidFill>
                  <a:srgbClr val="FFFFFF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0 Pre-training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675120" y="2395728"/>
            <a:ext cx="1920240" cy="301752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B8D4F0"/>
                </a:solidFill>
                <a:latin typeface="Calibri" panose="020F0502020204030204" pitchFamily="34" charset="0"/>
                <a:ea typeface="Calibri" panose="020F0502020204030204" pitchFamily="34" charset="-122"/>
                <a:cs typeface="Calibri" panose="020F0502020204030204" pitchFamily="34" charset="-120"/>
              </a:rPr>
              <a:t>From Scratch</a:t>
            </a:r>
            <a:endParaRPr lang="en-US" sz="10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/>
        </p:nvGraphicFramePr>
        <p:xfrm>
          <a:off x="365760" y="2880360"/>
          <a:ext cx="8412480" cy="1417320"/>
        </p:xfrm>
        <a:graphic>
          <a:graphicData uri="http://schemas.openxmlformats.org/drawingml/2006/table">
            <a:tbl>
              <a:tblPr/>
              <a:tblGrid>
                <a:gridCol w="2148840"/>
                <a:gridCol w="1691640"/>
                <a:gridCol w="1097280"/>
                <a:gridCol w="3474720"/>
              </a:tblGrid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Member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Student ID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Contribution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Responsibilities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ROY SUDIPTA (Lead)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20243120070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50%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CNN design, coding, training, hyperparameter tuning, result analysis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ULLAH SAMI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20243120005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50%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150" dirty="0">
                          <a:solidFill>
                            <a:srgbClr val="FFFFFF"/>
                          </a:solidFill>
                          <a:latin typeface="Calibri" panose="020F0502020204030204" pitchFamily="34" charset="0"/>
                          <a:ea typeface="Calibri" panose="020F0502020204030204" pitchFamily="34" charset="-122"/>
                          <a:cs typeface="Calibri" panose="020F0502020204030204" pitchFamily="34" charset="-120"/>
                        </a:rPr>
                        <a:t>Data preprocessing, literature review, PowerPoint, result visualisation</a:t>
                      </a:r>
                      <a:endParaRPr lang="en-US" sz="1150" dirty="0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F6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F35"/>
                    </a:solidFill>
                  </a:tcPr>
                </a:tc>
              </a:tr>
            </a:tbl>
          </a:graphicData>
        </a:graphic>
      </p:graphicFrame>
      <p:sp>
        <p:nvSpPr>
          <p:cNvPr id="18" name="Shape 15"/>
          <p:cNvSpPr/>
          <p:nvPr/>
        </p:nvSpPr>
        <p:spPr>
          <a:xfrm>
            <a:off x="365760" y="4389120"/>
            <a:ext cx="8412480" cy="621792"/>
          </a:xfrm>
          <a:prstGeom prst="rect">
            <a:avLst/>
          </a:prstGeom>
          <a:solidFill>
            <a:srgbClr val="1F6FBF"/>
          </a:solidFill>
        </p:spPr>
      </p:sp>
      <p:sp>
        <p:nvSpPr>
          <p:cNvPr id="19" name="Text 16"/>
          <p:cNvSpPr/>
          <p:nvPr/>
        </p:nvSpPr>
        <p:spPr>
          <a:xfrm>
            <a:off x="502920" y="4407408"/>
            <a:ext cx="8229600" cy="585216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marL="0" indent="0" algn="ctr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11441</Words>
  <Application>WPS Presentation</Application>
  <PresentationFormat>On-screen Show (16:9)</PresentationFormat>
  <Paragraphs>539</Paragraphs>
  <Slides>19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19</vt:i4>
      </vt:variant>
    </vt:vector>
  </HeadingPairs>
  <TitlesOfParts>
    <vt:vector size="32" baseType="lpstr">
      <vt:lpstr>Arial</vt:lpstr>
      <vt:lpstr>宋体</vt:lpstr>
      <vt:lpstr>Wingdings</vt:lpstr>
      <vt:lpstr>Calibri</vt:lpstr>
      <vt:lpstr>Calibri</vt:lpstr>
      <vt:lpstr>Calibri</vt:lpstr>
      <vt:lpstr>Consolas</vt:lpstr>
      <vt:lpstr>Consolas</vt:lpstr>
      <vt:lpstr>Consolas</vt:lpstr>
      <vt:lpstr>微软雅黑</vt:lpstr>
      <vt:lpstr>Arial Unicode MS</vt:lpstr>
      <vt:lpstr>MS PGothic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SVHN Image Classification Using CNN</dc:title>
  <dc:creator>PptxGenJS</dc:creator>
  <dc:subject>PptxGenJS Presentation</dc:subject>
  <cp:lastModifiedBy>Engineer Sami</cp:lastModifiedBy>
  <cp:revision>2</cp:revision>
  <dcterms:created xsi:type="dcterms:W3CDTF">2026-05-24T20:51:00Z</dcterms:created>
  <dcterms:modified xsi:type="dcterms:W3CDTF">2026-05-24T21:05:39Z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1033-12.1.0.26372</vt:lpwstr>
  </property>
  <property fmtid="{D5CDD505-2E9C-101B-9397-08002B2CF9AE}" pid="3" name="ICV">
    <vt:lpwstr>3161ED1AEC434488A065B775D254587B_13</vt:lpwstr>
  </property>
</Properties>
</file>