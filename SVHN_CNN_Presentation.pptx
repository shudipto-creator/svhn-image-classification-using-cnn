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394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7020" y="3575050"/>
            <a:ext cx="9144000" cy="157734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538728"/>
            <a:ext cx="9144000" cy="45720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SVHN Image Classification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8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Convolutional Neural Networks (CNN)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926080" y="1901952"/>
            <a:ext cx="3291840" cy="27432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Topic 2 Group Assignment · Deep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514600"/>
            <a:ext cx="2194560" cy="868680"/>
          </a:xfrm>
          <a:prstGeom prst="roundRect">
            <a:avLst>
              <a:gd name="adj" fmla="val 12632"/>
            </a:avLst>
          </a:prstGeom>
          <a:solidFill>
            <a:srgbClr val="4A90D9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2532888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91.88%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2990088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2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Test 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Yunnan University ·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ROY SUDIPTA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5196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64008" cy="749808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960120"/>
            <a:ext cx="548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33832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5196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64008" cy="749808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73752" y="960120"/>
            <a:ext cx="548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960120"/>
            <a:ext cx="33832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1837944"/>
            <a:ext cx="425196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1837944"/>
            <a:ext cx="64008" cy="749808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" y="1837944"/>
            <a:ext cx="548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1837944"/>
            <a:ext cx="33832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CNN?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837944"/>
            <a:ext cx="425196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1837944"/>
            <a:ext cx="64008" cy="749808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73752" y="1837944"/>
            <a:ext cx="548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0" y="1837944"/>
            <a:ext cx="33832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Architecture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" y="2715768"/>
            <a:ext cx="425196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2715768"/>
            <a:ext cx="64008" cy="749808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" y="2715768"/>
            <a:ext cx="548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2715768"/>
            <a:ext cx="33832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2715768"/>
            <a:ext cx="425196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2715768"/>
            <a:ext cx="64008" cy="749808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3752" y="2715768"/>
            <a:ext cx="548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0" y="2715768"/>
            <a:ext cx="33832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Setup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28600" y="3593592"/>
            <a:ext cx="425196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3593592"/>
            <a:ext cx="64008" cy="749808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3192" y="3593592"/>
            <a:ext cx="548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5840" y="3593592"/>
            <a:ext cx="33832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Highlights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3593592"/>
            <a:ext cx="425196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3593592"/>
            <a:ext cx="64008" cy="749808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73752" y="3593592"/>
            <a:ext cx="548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486400" y="3593592"/>
            <a:ext cx="33832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Analysis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28600" y="4471416"/>
            <a:ext cx="425196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28600" y="4471416"/>
            <a:ext cx="64008" cy="749808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93192" y="4471416"/>
            <a:ext cx="548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05840" y="4471416"/>
            <a:ext cx="33832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Solutions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09160" y="4471416"/>
            <a:ext cx="425196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09160" y="4471416"/>
            <a:ext cx="64008" cy="749808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73752" y="4471416"/>
            <a:ext cx="548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486400" y="4471416"/>
            <a:ext cx="33832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Statement: SVHN Digit Recognition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029200" cy="393192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29200" cy="38404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4846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SVHN?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4846320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Street View House Numbers — real-world images from Google Street 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32×32 pixel colour (RGB) images of house number digits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classes: digits 0 through 9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Published by Stanford University (Netzer et al., 2011)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 more challenging than MNIST: natural noise, clutter, colour variation, variable lighting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951865"/>
            <a:ext cx="3429000" cy="1828800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0" y="1005840"/>
            <a:ext cx="3246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harder than MNIST?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325880"/>
            <a:ext cx="3246120" cy="1389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RGB colour — 3 channels vs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background clutter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lighting &amp; blur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digits may be visible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class imbalance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944368"/>
            <a:ext cx="3429000" cy="1947672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0" y="2944368"/>
            <a:ext cx="3429000" cy="347472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0" y="2944368"/>
            <a:ext cx="3246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3337560"/>
            <a:ext cx="324612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CNN from scratch to classify digits 0–9 with &gt; 90% accuracy. No pre-trained weights or transfer learning — all feature extraction learned from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Overview: SVHN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8F2F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33272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73,257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9202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Images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8F2FC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1033272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26,032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463040"/>
            <a:ext cx="19202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Images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8F2FC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033272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463040"/>
            <a:ext cx="19202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Classes (0–9)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960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8F2FC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20840" y="1033272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32×32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20840" y="1463040"/>
            <a:ext cx="192024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Size (RGB)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011680"/>
            <a:ext cx="8686800" cy="283464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" y="2011680"/>
            <a:ext cx="8686800" cy="38404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011680"/>
            <a:ext cx="8503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Dataset Properties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228600" y="2450592"/>
          <a:ext cx="8686800" cy="24688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Property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Detail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Format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MATLAB .mat file, loaded via torchvision API directly — no manual parsing needed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Label mapping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Raw dataset assigns label 10 to digit '0' — mapped to 0 in preprocessing code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 distribution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Approximately balanced across digits 0–9; digit '1' slightly over-represented (natural frequency in street addresses)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Extra set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531,131 additional images available but not used — we use only the standard train/test split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Preprocessing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Normalise to [−1,1]; random crop and flip for training; ToTensor + normalise only for test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Convolutional Neural Networks?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38328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265176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feature engineering required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not exploit spatial structure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Fails on pixel-level variations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share weights spatially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scalability to higher resolution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834640" cy="338328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834640" cy="384048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960120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Connected NN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389888"/>
            <a:ext cx="265176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Treats pixels as independent features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spatial awareness whatsoever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Huge parameter count for images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generalisation to new images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Computationally prohibitive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834640" cy="3383280"/>
          </a:xfrm>
          <a:prstGeom prst="rect">
            <a:avLst/>
          </a:prstGeom>
          <a:solidFill>
            <a:srgbClr val="1A3A5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834640" cy="384048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960120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✓ (Our Approach)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389888"/>
            <a:ext cx="265176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feature extraction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Exploits 2D spatial structure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 sharing = fewer parameters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 invariance via pooling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Hierarchical feature learning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8600" y="4416552"/>
            <a:ext cx="8686800" cy="54864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Key Advantage: One filter slides across the ENTIRE image — learning one edge detector works everywhere! (weight sharing)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Architecture — SVHN_CNN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" y="960120"/>
            <a:ext cx="1051560" cy="1828800"/>
          </a:xfrm>
          <a:prstGeom prst="roundRect">
            <a:avLst>
              <a:gd name="adj" fmla="val 6957"/>
            </a:avLst>
          </a:prstGeom>
          <a:solidFill>
            <a:srgbClr val="4A90D9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" y="960120"/>
            <a:ext cx="10515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32×32×3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1783080"/>
            <a:ext cx="73152" cy="91440"/>
          </a:xfrm>
          <a:prstGeom prst="rect">
            <a:avLst/>
          </a:prstGeom>
          <a:solidFill>
            <a:srgbClr val="6B7F94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61872" y="96012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1872" y="960120"/>
            <a:ext cx="12801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3→32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BN+ReLU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16×16×32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1783080"/>
            <a:ext cx="73152" cy="91440"/>
          </a:xfrm>
          <a:prstGeom prst="rect">
            <a:avLst/>
          </a:prstGeom>
          <a:solidFill>
            <a:srgbClr val="6B7F94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15184" y="96012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15184" y="960120"/>
            <a:ext cx="12801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32→64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BN+ReLU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8×8×64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95344" y="1783080"/>
            <a:ext cx="73152" cy="91440"/>
          </a:xfrm>
          <a:prstGeom prst="rect">
            <a:avLst/>
          </a:prstGeom>
          <a:solidFill>
            <a:srgbClr val="6B7F94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68496" y="96012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68496" y="960120"/>
            <a:ext cx="12801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64→128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BN+ReLU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4×4×128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48656" y="1783080"/>
            <a:ext cx="73152" cy="91440"/>
          </a:xfrm>
          <a:prstGeom prst="rect">
            <a:avLst/>
          </a:prstGeom>
          <a:solidFill>
            <a:srgbClr val="6B7F94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21808" y="960120"/>
            <a:ext cx="1051560" cy="1828800"/>
          </a:xfrm>
          <a:prstGeom prst="roundRect">
            <a:avLst>
              <a:gd name="adj" fmla="val 6957"/>
            </a:avLst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21808" y="960120"/>
            <a:ext cx="10515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Flatten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73368" y="1783080"/>
            <a:ext cx="73152" cy="91440"/>
          </a:xfrm>
          <a:prstGeom prst="rect">
            <a:avLst/>
          </a:prstGeom>
          <a:solidFill>
            <a:srgbClr val="6B7F94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960120"/>
            <a:ext cx="1188720" cy="1828800"/>
          </a:xfrm>
          <a:prstGeom prst="roundRect">
            <a:avLst>
              <a:gd name="adj" fmla="val 6154"/>
            </a:avLst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960120"/>
            <a:ext cx="1188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FC+BN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ReLU+Drop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1783080"/>
            <a:ext cx="73152" cy="91440"/>
          </a:xfrm>
          <a:prstGeom prst="rect">
            <a:avLst/>
          </a:prstGeom>
          <a:solidFill>
            <a:srgbClr val="6B7F94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08392" y="960120"/>
            <a:ext cx="1051560" cy="1828800"/>
          </a:xfrm>
          <a:prstGeom prst="roundRect">
            <a:avLst>
              <a:gd name="adj" fmla="val 6957"/>
            </a:avLst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08392" y="960120"/>
            <a:ext cx="10515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classes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2926080"/>
            <a:ext cx="4160520" cy="91440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2926080"/>
            <a:ext cx="64008" cy="91440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2980944"/>
            <a:ext cx="3886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3×3 Kernels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3291840"/>
            <a:ext cx="38862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receptive field as 5×5 but fewer parameters and more non-linearity (VGGNet principle). Used throughout all conv layers.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926080"/>
            <a:ext cx="4160520" cy="91440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2926080"/>
            <a:ext cx="64008" cy="91440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2980944"/>
            <a:ext cx="3886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32→64→128 Filters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3291840"/>
            <a:ext cx="38862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Classic doubling schedule. As spatial size halves (via MaxPool), depth doubles — total information capacity stays roughly constant.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" y="3950208"/>
            <a:ext cx="4160520" cy="91440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28600" y="3950208"/>
            <a:ext cx="64008" cy="91440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005072"/>
            <a:ext cx="3886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Padding = 1 (same)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4315968"/>
            <a:ext cx="38862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Preserves spatial dimensions: (32 - 3 + 2) / 1 + 1 = 32. No information loss at borders during convolution.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950208"/>
            <a:ext cx="4160520" cy="91440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09160" y="3950208"/>
            <a:ext cx="64008" cy="91440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4005072"/>
            <a:ext cx="3886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~780K Parameters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92040" y="4315968"/>
            <a:ext cx="38862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Compact enough to train on a single GPU, large enough for strong representational capacity on SVHN.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 &amp; Augmentation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160520" cy="1810512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64008" cy="1810512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1078992"/>
            <a:ext cx="3337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Crop (Train only)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886200" cy="11704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Pad image by 4px each side → randomly crop back to 32×32. Creates positional variation — teaches translation invariance without distortion.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987552"/>
            <a:ext cx="4160520" cy="1810512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987552"/>
            <a:ext cx="64008" cy="1810512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078992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58968" y="1078992"/>
            <a:ext cx="3337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Horizontal Flip (Train only)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3886200" cy="11704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 probability flip. Increases dataset diversity and teaches stroke-orientation robustness. Applied only during training.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980944"/>
            <a:ext cx="4160520" cy="1810512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980944"/>
            <a:ext cx="64008" cy="1810512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072384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78408" y="3072384"/>
            <a:ext cx="3337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ToTensor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547872"/>
            <a:ext cx="3886200" cy="11704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PIL image to PyTorch tensor. Scales pixel values from [0, 255] to [0.0, 1.0] automatically.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980944"/>
            <a:ext cx="4160520" cy="1810512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980944"/>
            <a:ext cx="64008" cy="1810512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072384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58968" y="3072384"/>
            <a:ext cx="3337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Normalise to [−1, 1]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547872"/>
            <a:ext cx="3886200" cy="11704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Mean=[0.5, 0.5, 0.5], Std=[0.5, 0.5, 0.5] per channel. Centers distribution around zero for faster gradient convergence.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4892040"/>
            <a:ext cx="8686800" cy="137160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901184"/>
            <a:ext cx="850392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set: ToTensor + Normalise only — no augmentation applied, so evaluation is unbiased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1506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Setup &amp; Hyperparameters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228600" y="987552"/>
          <a:ext cx="8686800" cy="37856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Hyperparameter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Justification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Batch Size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Balances GPU memory and gradient quality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Learning Rate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0.001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 default; effective for deep networks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Epochs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 converged — no further gain observed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Optimiser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Adaptive per-parameter learning rates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Weight Decay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1×10⁻⁴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L2 regularisation — prevents large weights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Loss Function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CrossEntropyLoss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 for multi-class classification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LR Scheduler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ReduceLROnPlateau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Halves LR when test accuracy plateaus (patience=2)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Dropout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 = 0.5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D1F3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50% neuron dropout in fully connected layers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Highlight: Model Definition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120640" cy="397764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9377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SVHN_CNN(nn.Module):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__init__(self, num_classes=10):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super().__init__()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Block 1: 32×32×3 → 16×16×32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self.conv1 = nn.Conv2d(3, 32, kernel_size=3, padding=1)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self.bn1   = nn.BatchNorm2d(32)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self.relu1 = nn.ReLU(inplace=True)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self.pool1 = nn.MaxPool2d(2, 2)   # halve spatial dims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Block 2: 16×16×32 → 8×8×64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self.conv2 = nn.Conv2d(32, 64, kernel_size=3, padding=1)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self.bn2   = nn.BatchNorm2d(64)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... (same pattern)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Block 3: 8×8×64 → 4×4×128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Fully connected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self.fc1   = nn.Linear(128*4*4, 256)  # flatten: 2048→256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self.drop1 = nn.Dropout(0.5)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self.fc2   = nn.Linear(256, 128)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self.fc3   = nn.Linear(128, 10)       # → 10 digit classes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337560" cy="694944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64008" cy="694944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0" y="1005840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kernel_size=3, padding=1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1289304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"Same" padding — preserves 32×32 spatial dimensions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0" y="1728216"/>
            <a:ext cx="3337560" cy="694944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577840" y="1728216"/>
            <a:ext cx="64008" cy="694944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1773936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BatchNorm2d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05740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Normalises activations per batch; accelerates convergence 2× 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2496312"/>
            <a:ext cx="3337560" cy="694944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77840" y="2496312"/>
            <a:ext cx="64008" cy="694944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0" y="2542032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MaxPool2d(2,2)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825496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Halves H and W — 32→16→8→4 across 3 blocks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77840" y="3264408"/>
            <a:ext cx="3337560" cy="694944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77840" y="3264408"/>
            <a:ext cx="64008" cy="694944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0" y="3310128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Dropout(0.5)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3593592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Zeros 50% of FC neurons during training — prevents co-adaptation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77840" y="4032504"/>
            <a:ext cx="3337560" cy="694944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77840" y="4032504"/>
            <a:ext cx="64008" cy="694944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0" y="4078224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fc3: 128→10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4361688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logits, one per digit class; CrossEntropyLoss applies softmax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Highlight: Training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937760" cy="397764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75488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train_one_epoch(model, loader,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optimizer, criterion, device):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model.train()  # enable Dropout, BN train mode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total_loss, correct = 0.0, 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 images, labels in loader: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images = images.to(device)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labels = labels.to(device)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optimizer.zero_grad()      # clear old gradients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outputs = model(images)    # forward pass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loss = criterion(outputs, labels)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loss.backward()            # backpropagation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optimizer.step()           # update weights θ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track running loss and accuracy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total_loss += loss.item() * images.size(0)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correct    += (outputs.argmax(1)==labels).sum()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total_loss/len(loader.dataset),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correct/len(loader.dataset)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0" y="960120"/>
            <a:ext cx="3520440" cy="896112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0" y="960120"/>
            <a:ext cx="45720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97880" y="1014984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model.train()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7880" y="1325880"/>
            <a:ext cx="29260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Enables Dropout (masks 50% of neurons) and BatchNorm uses batch statistics — not running averages.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947672"/>
            <a:ext cx="3520440" cy="896112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94960" y="1947672"/>
            <a:ext cx="45720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97880" y="2002536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zero_grad()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2313432"/>
            <a:ext cx="29260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 accumulates gradients by default. Clearing each step prevents errors from prior batches.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935224"/>
            <a:ext cx="3520440" cy="896112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0" y="2935224"/>
            <a:ext cx="45720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97880" y="2990088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loss.backward()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3300984"/>
            <a:ext cx="29260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Computes gradients for all parameters via chain rule (backpropagation through all layers).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94960" y="3922776"/>
            <a:ext cx="3520440" cy="896112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94960" y="3922776"/>
            <a:ext cx="45720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97880" y="3977640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optimizer.step()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97880" y="4288536"/>
            <a:ext cx="292608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Updates parameters: θ ← θ − lr · ∇L(θ). Adam adapts lr per parameter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Results: Loss &amp; Accuracy Curves (15 Epochs)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D:/Desktop/test/Pics/Figure_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8600" y="960120"/>
            <a:ext cx="868680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361688"/>
            <a:ext cx="8686800" cy="658368"/>
          </a:xfrm>
          <a:prstGeom prst="rect">
            <a:avLst/>
          </a:prstGeom>
          <a:solidFill>
            <a:srgbClr val="E8F2FC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4370832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Observations: </a:t>
            </a: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Sharp loss drop in first 5 epochs. Test loss converges to 0.279 (better than training loss due to Dropout). No overfitting — test loss tracks training loss throughout. Test accuracy consistently leads training accuracy because Dropout masks neurons during training but not at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Results: Confusion Matrix on SVHN Test Set (26,032 samples)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D:/Desktop/test/Pics/confusion_matrix_full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31520" y="960120"/>
            <a:ext cx="47548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960120"/>
            <a:ext cx="3200400" cy="393192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0" y="960120"/>
            <a:ext cx="3200400" cy="38404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06440" y="960120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06440" y="1389888"/>
            <a:ext cx="3017520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Diagonal dominance shows strong classification across all 10 classes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 1 has the highest true count (4,848) — most common in the dataset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 3 shows most off-diagonal confusion — mainly confused with 2 and 5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 8 shows confusion with 6 (similar loops at this resolution)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 9 often confused with 4 and 6 (stroke similarity)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accuracy: 91.88% — strong for a custom model from scratch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Results: Per-Class Precision &amp; Recall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D:/Desktop/test/Pics/per_class_precision_recall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8600" y="960120"/>
            <a:ext cx="868680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315968"/>
            <a:ext cx="8686800" cy="685800"/>
          </a:xfrm>
          <a:prstGeom prst="rect">
            <a:avLst/>
          </a:prstGeom>
          <a:solidFill>
            <a:srgbClr val="E8F2FC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4325112"/>
            <a:ext cx="8412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precision: Digit 4 (0.95)  |  Best recall: Digits 1 &amp; 2 (0.95)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Lowest recall: Digit 8 (0.85) — confusion mainly with 6 and 3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classes achieve 0.88–0.95 precision and 0.86–0.95 recall — consistent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Results: Misclassified Test Images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D:/Desktop/test/Pics/misclassification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8600" y="960120"/>
            <a:ext cx="45720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960120"/>
            <a:ext cx="3886200" cy="393192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0" y="968375"/>
            <a:ext cx="3886200" cy="38404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120640" y="960120"/>
            <a:ext cx="3703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Pattern Analysis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20640" y="1389888"/>
            <a:ext cx="3703320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= True label, P = Predicted label shown above each image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6↔9: Rotationally similar at 32×32 resolution — most common confusion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3↔8: Similar closed-loop structure in the lower half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1↔7: Similar vertical stroke — especially in italic/styled fonts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clutter causes some errors — digit region is ambiguous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Multi-digit images: model focuses on wrong digit in the crop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errors involve visually ambiguous pairs — not random noise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&amp; Result Interpretation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123444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64008" cy="123444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321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Test Acc &gt; Train Acc?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80744"/>
            <a:ext cx="8321040" cy="768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Dropout(0.5) masks 50% of neurons during training — artificially suppresses the training metric. During eval(), Dropout is OFF — full model capacity is used. This is the expected behaviour with Dropout regularisation.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313432"/>
            <a:ext cx="8686800" cy="123444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2313432"/>
            <a:ext cx="64008" cy="123444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377440"/>
            <a:ext cx="8321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Accuracy Plateaus After Epoch 10?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734056"/>
            <a:ext cx="8321040" cy="768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has extracted most useful information from the current architecture and augmentation strategy. ReduceLROnPlateau reduced the learning rate — the model stabilised rather than getting stuck. Deeper networks or more augmentation would be needed for further gains.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666744"/>
            <a:ext cx="8686800" cy="123444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3666744"/>
            <a:ext cx="64008" cy="123444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730752"/>
            <a:ext cx="8321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No Overfitting?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4087368"/>
            <a:ext cx="8321040" cy="768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Dropout(0.5) provides strong regularisation in FC layers. BatchNorm acts as an implicit regulariser by normalising activations. L2 weight decay (1×10⁻⁴) prevents large weight values. Data augmentation increased effective dataset diversity.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417320" cy="74980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960120"/>
            <a:ext cx="135331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Overfitting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83080" y="1069848"/>
            <a:ext cx="6949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Problem → </a:t>
            </a:r>
            <a:r>
              <a:rPr lang="en-US" sz="12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Dropout(0.5) + L2 weight decay (1e-4) → test loss stabilised throughout training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783080"/>
            <a:ext cx="868680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783080"/>
            <a:ext cx="1417320" cy="74980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1783080"/>
            <a:ext cx="135331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Convergence (No BN)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83080" y="1892808"/>
            <a:ext cx="6949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Problem → </a:t>
            </a:r>
            <a:r>
              <a:rPr lang="en-US" sz="12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BatchNorm after every layer → 2× faster convergence; more stable gradient 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606040"/>
            <a:ext cx="868680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2606040"/>
            <a:ext cx="1417320" cy="74980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" y="2606040"/>
            <a:ext cx="135331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Windows Multiprocessing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83080" y="2715768"/>
            <a:ext cx="6949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Problem → </a:t>
            </a:r>
            <a:r>
              <a:rPr lang="en-US" sz="12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num_workers=0 in DataLoader → eliminated OS-level deadlock in training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429000"/>
            <a:ext cx="868680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" y="3429000"/>
            <a:ext cx="1417320" cy="74980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3429000"/>
            <a:ext cx="135331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 Too High at Later Epochs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83080" y="3538728"/>
            <a:ext cx="6949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Problem → </a:t>
            </a:r>
            <a:r>
              <a:rPr lang="en-US" sz="12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ReduceLROnPlateau scheduler → automatic LR halving on plateau; oscillation eliminated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4251960"/>
            <a:ext cx="8686800" cy="749808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4260215"/>
            <a:ext cx="1417320" cy="74980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" y="4251960"/>
            <a:ext cx="135331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Choosing Kernel Size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83080" y="4361688"/>
            <a:ext cx="6949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Problem → </a:t>
            </a:r>
            <a:r>
              <a:rPr lang="en-US" sz="12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3×3 preferred: same receptive field as 5×5 but fewer parameters and more non-linearity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E8F2F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033272"/>
            <a:ext cx="199339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91.88%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488186"/>
            <a:ext cx="1993392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Test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04872" y="96012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E8F2FC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04872" y="1033272"/>
            <a:ext cx="199339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04872" y="1488186"/>
            <a:ext cx="1993392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Epochs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81144" y="96012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E8F2FC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81144" y="1033272"/>
            <a:ext cx="199339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0.279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81144" y="1488186"/>
            <a:ext cx="1993392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Test Loss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57416" y="96012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E8F2FC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57416" y="1033272"/>
            <a:ext cx="199339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~780K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57416" y="1488186"/>
            <a:ext cx="1993392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Trainable Params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057400"/>
            <a:ext cx="4160520" cy="128016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" y="2057400"/>
            <a:ext cx="64008" cy="128016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" y="2130552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" y="2478024"/>
            <a:ext cx="38404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conv blocks with doubling filter depth (32→64→128) capture low-to-high level features. 3×3 kernels with same padding preserve spatial information.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057400"/>
            <a:ext cx="4160520" cy="128016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057400"/>
            <a:ext cx="64008" cy="128016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0328" y="2130552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Regularisation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0328" y="2478024"/>
            <a:ext cx="38404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BatchNorm + Dropout(0.5) + L2 weight decay work together. Near-zero overfitting on 73,000 samples confirms they complement each other.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8600" y="3474720"/>
            <a:ext cx="4160520" cy="128016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3474720"/>
            <a:ext cx="64008" cy="128016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" y="3547872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" y="3895344"/>
            <a:ext cx="38404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Adam with ReduceLROnPlateau gave stable, fast convergence. The scheduler prevented oscillation in later epochs while still allowing improvement.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3474720"/>
            <a:ext cx="4160520" cy="128016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3474720"/>
            <a:ext cx="64008" cy="128016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0328" y="3547872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10328" y="3895344"/>
            <a:ext cx="38404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cropping and horizontal flipping contributed to the gap between training accuracy (88.69%) and test accuracy (91.88%).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 &amp; Improvements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8288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73152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64008" cy="73152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Deeper Architecture (ResNet-style)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11880" y="1014984"/>
            <a:ext cx="5212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Residual connections allow training 20+ layer networks without vanishing gradients. Expected accuracy gain: ~95%+ from the current 91.88%.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1051560"/>
            <a:ext cx="18288" cy="548640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764792"/>
            <a:ext cx="8686800" cy="73152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1764792"/>
            <a:ext cx="64008" cy="73152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801368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Augmentation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1819656"/>
            <a:ext cx="5212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Colour jitter, rotation, Cutout, MixUp — increases effective dataset diversity and improves generalisation on unseen lighting/background conditions.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1856232"/>
            <a:ext cx="18288" cy="548640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569464"/>
            <a:ext cx="8686800" cy="73152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569464"/>
            <a:ext cx="64008" cy="73152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Methods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11880" y="2624328"/>
            <a:ext cx="5212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5 different model seeds, average predictions. Typically adds 1–2% accuracy with no architecture changes — low cost, reliable gain.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20440" y="2660904"/>
            <a:ext cx="18288" cy="548640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3374136"/>
            <a:ext cx="8686800" cy="73152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374136"/>
            <a:ext cx="64008" cy="73152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410712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11880" y="3429000"/>
            <a:ext cx="5212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Fine-tune ImageNet-pretrained ResNet-18 as starting point. Pre-learned low-level features (edges, textures) dramatically accelerate training.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20440" y="3465576"/>
            <a:ext cx="18288" cy="548640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" y="4178808"/>
            <a:ext cx="8686800" cy="731520"/>
          </a:xfrm>
          <a:prstGeom prst="rect">
            <a:avLst/>
          </a:prstGeom>
          <a:solidFill>
            <a:srgbClr val="E8F2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4178808"/>
            <a:ext cx="64008" cy="73152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215384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 Mechanisms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11880" y="4233672"/>
            <a:ext cx="52120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SE blocks or CBAM spatial attention to help the model focus on the most discriminative digit regions — ignores background clutter better.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20440" y="4270248"/>
            <a:ext cx="18288" cy="548640"/>
          </a:xfrm>
          <a:prstGeom prst="rect">
            <a:avLst/>
          </a:prstGeom>
          <a:solidFill>
            <a:srgbClr val="B8D4F0"/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1342570"/>
            <a:ext cx="2743200" cy="36576"/>
          </a:xfrm>
          <a:prstGeom prst="rect">
            <a:avLst/>
          </a:prstGeom>
          <a:solidFill>
            <a:srgbClr val="4A90D9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508386"/>
            <a:ext cx="1920240" cy="82296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526674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91.88%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2983874"/>
            <a:ext cx="19202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2508386"/>
            <a:ext cx="1920240" cy="82296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2526674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Epochs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560320" y="2983874"/>
            <a:ext cx="19202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508386"/>
            <a:ext cx="1920240" cy="82296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2526674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2983874"/>
            <a:ext cx="19202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2508386"/>
            <a:ext cx="1920240" cy="822960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2526674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Pre-training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66560" y="2983874"/>
            <a:ext cx="19202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Scratch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4389120"/>
            <a:ext cx="8412480" cy="621792"/>
          </a:xfrm>
          <a:prstGeom prst="rect">
            <a:avLst/>
          </a:prstGeom>
          <a:solidFill>
            <a:srgbClr val="1F6FBF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" y="4407408"/>
            <a:ext cx="82296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2183</Words>
  <Application>Microsoft Office PowerPoint</Application>
  <PresentationFormat>On-screen Show (16:9)</PresentationFormat>
  <Paragraphs>320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SVHN Image Classification Using CNN</dc:title>
  <dc:subject>PptxGenJS Presentation</dc:subject>
  <dc:creator>PptxGenJS</dc:creator>
  <cp:lastModifiedBy>Sudipta Roy</cp:lastModifiedBy>
  <cp:revision>3</cp:revision>
  <dcterms:created xsi:type="dcterms:W3CDTF">2026-05-24T20:51:00Z</dcterms:created>
  <dcterms:modified xsi:type="dcterms:W3CDTF">2026-05-30T14:49:43Z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3161ED1AEC434488A065B775D254587B_13</vt:lpwstr>
  </property>
</Properties>
</file>